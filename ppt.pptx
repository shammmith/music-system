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86" r:id="rId7"/>
    <p:sldId id="304" r:id="rId8"/>
    <p:sldId id="288" r:id="rId9"/>
    <p:sldId id="305" r:id="rId10"/>
    <p:sldId id="306" r:id="rId11"/>
    <p:sldId id="290" r:id="rId12"/>
    <p:sldId id="307" r:id="rId13"/>
    <p:sldId id="299" r:id="rId14"/>
    <p:sldId id="300" r:id="rId15"/>
    <p:sldId id="309" r:id="rId16"/>
    <p:sldId id="310" r:id="rId17"/>
    <p:sldId id="301" r:id="rId18"/>
    <p:sldId id="302" r:id="rId19"/>
    <p:sldId id="303" r:id="rId20"/>
    <p:sldId id="29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996" y="2611120"/>
            <a:ext cx="8679772" cy="1908828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00B050"/>
                </a:solidFill>
              </a:rPr>
              <a:t>MUSIC CLASSIFICATION </a:t>
            </a:r>
            <a:br>
              <a:rPr lang="en-US" sz="4400" dirty="0">
                <a:solidFill>
                  <a:srgbClr val="00B050"/>
                </a:solidFill>
              </a:rPr>
            </a:br>
            <a:r>
              <a:rPr lang="en-US" sz="4400" dirty="0">
                <a:solidFill>
                  <a:srgbClr val="00B050"/>
                </a:solidFill>
              </a:rPr>
              <a:t>AND </a:t>
            </a:r>
            <a:br>
              <a:rPr lang="en-US" sz="4400" dirty="0">
                <a:solidFill>
                  <a:srgbClr val="00B050"/>
                </a:solidFill>
              </a:rPr>
            </a:br>
            <a:r>
              <a:rPr lang="en-US" sz="4400" dirty="0">
                <a:solidFill>
                  <a:srgbClr val="00B050"/>
                </a:solidFill>
              </a:rPr>
              <a:t>RECOMMENDATION SYSTEM USING </a:t>
            </a:r>
            <a:br>
              <a:rPr lang="en-US" sz="4400" dirty="0">
                <a:solidFill>
                  <a:srgbClr val="00B050"/>
                </a:solidFill>
              </a:rPr>
            </a:br>
            <a:r>
              <a:rPr lang="en-US" sz="4400" dirty="0">
                <a:solidFill>
                  <a:srgbClr val="00B050"/>
                </a:solidFill>
              </a:rPr>
              <a:t>MACHINE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ACD6F-7776-724C-E803-4099593BB1A9}"/>
              </a:ext>
            </a:extLst>
          </p:cNvPr>
          <p:cNvSpPr txBox="1"/>
          <p:nvPr/>
        </p:nvSpPr>
        <p:spPr>
          <a:xfrm>
            <a:off x="7162800" y="5394960"/>
            <a:ext cx="364744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Shammith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                2VX21CB024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VenkatReddy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2VX21CB032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Vishwanath Reddy       2VX21CB034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Jotiba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Dukare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2VX21CB008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Introduction 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System Requirements</a:t>
            </a:r>
          </a:p>
          <a:p>
            <a:r>
              <a:rPr lang="en-US" dirty="0"/>
              <a:t>Results and Analysis</a:t>
            </a:r>
          </a:p>
          <a:p>
            <a:r>
              <a:rPr lang="en-US" dirty="0"/>
              <a:t>Future Scope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142568"/>
            <a:ext cx="5486400" cy="1489587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9F3D-E8EB-FC3D-BE62-626DDB17A4E6}"/>
              </a:ext>
            </a:extLst>
          </p:cNvPr>
          <p:cNvSpPr txBox="1"/>
          <p:nvPr/>
        </p:nvSpPr>
        <p:spPr>
          <a:xfrm>
            <a:off x="1036321" y="1097280"/>
            <a:ext cx="1073858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plays a crucial role in human emotions, influencing mood, feelings, and overall well-being. Traditional music recommendation systems rely on user history, genre preferences.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emotion-based music recommendation system.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utilizing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API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provides real-time, personalized recommendations.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639E-E6A4-5572-C009-CF312D14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MCS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C8CF8-B9EE-027B-7274-B98937384598}"/>
              </a:ext>
            </a:extLst>
          </p:cNvPr>
          <p:cNvSpPr txBox="1"/>
          <p:nvPr/>
        </p:nvSpPr>
        <p:spPr>
          <a:xfrm>
            <a:off x="1158864" y="1846435"/>
            <a:ext cx="1005456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Music Classification System (MCS)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to classify music genres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input modes: File Upload &amp; Audio Recording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GTZAN Genre Classification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24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1452881"/>
            <a:ext cx="9769641" cy="4161856"/>
          </a:xfrm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B5E4B6-FC3B-12CA-7C76-2939D656B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958" y="228599"/>
            <a:ext cx="8824761" cy="919481"/>
          </a:xfrm>
        </p:spPr>
        <p:txBody>
          <a:bodyPr/>
          <a:lstStyle/>
          <a:p>
            <a:r>
              <a:rPr lang="en-IN" sz="6000" dirty="0">
                <a:latin typeface="+mj-lt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3CB64-4F8D-3CE8-DB69-8E52F185823B}"/>
              </a:ext>
            </a:extLst>
          </p:cNvPr>
          <p:cNvSpPr txBox="1"/>
          <p:nvPr/>
        </p:nvSpPr>
        <p:spPr>
          <a:xfrm>
            <a:off x="1507958" y="1243263"/>
            <a:ext cx="976964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Extracting Accurate Emotion-to-Music Mapping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Diverse User Preferences and Genres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Filtering and Selecting Relevant YouTube Content Dynamically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Providing a Seamless User Interface for Interaction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998F-71EF-6683-8094-C367A8B0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141" y="2544278"/>
            <a:ext cx="10106526" cy="4066674"/>
          </a:xfrm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MCS</a:t>
            </a:r>
            <a:br>
              <a:rPr lang="en-US" altLang="en-US" sz="3200" b="1" dirty="0"/>
            </a:b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Challenges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1)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Variability in music styles and composition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2)   Background noise and distributions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3)   </a:t>
            </a:r>
            <a:r>
              <a:rPr lang="en-US" altLang="en-US" sz="2400" b="0" dirty="0" err="1"/>
              <a:t>I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nbalanced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datasets (biased classification)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8430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FB331ED-0A1F-362F-8AED-88869B40A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61" y="304801"/>
            <a:ext cx="9601200" cy="1068002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C02401-4FAC-9117-6C61-570BD0F396BE}"/>
              </a:ext>
            </a:extLst>
          </p:cNvPr>
          <p:cNvSpPr txBox="1"/>
          <p:nvPr/>
        </p:nvSpPr>
        <p:spPr>
          <a:xfrm>
            <a:off x="1058779" y="1957137"/>
            <a:ext cx="1025090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MRS</a:t>
            </a:r>
            <a:endParaRPr lang="en-US" altLang="en-US" sz="2800" b="1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Emotion-Based Music Selection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Accurate Emotion-to-Music Mapping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Music Retrieval Support for Multiple Languages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User-Friendly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21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365" y="1042737"/>
            <a:ext cx="10430949" cy="4390187"/>
          </a:xfrm>
        </p:spPr>
        <p:txBody>
          <a:bodyPr>
            <a:normAutofit fontScale="92500" lnSpcReduction="10000"/>
          </a:bodyPr>
          <a:lstStyle/>
          <a:p>
            <a:r>
              <a:rPr lang="en-US" sz="4000" b="1" dirty="0"/>
              <a:t>MCS</a:t>
            </a:r>
          </a:p>
          <a:p>
            <a:endParaRPr lang="en-US" sz="4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Develop an ML-based system for genre classification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Implement two input methods: File Upload &amp; Audio Recording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Train an SVM model on extracted audio features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Improve accuracy using feature engineering and preprocessing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D54D-FB60-E2A3-8197-846268B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047" y="-99063"/>
            <a:ext cx="9601200" cy="1132171"/>
          </a:xfrm>
        </p:spPr>
        <p:txBody>
          <a:bodyPr/>
          <a:lstStyle/>
          <a:p>
            <a:pPr algn="ctr"/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68E9-C9B6-51DC-F3DA-CE95562FA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487" y="1033108"/>
            <a:ext cx="9757181" cy="3332832"/>
          </a:xfrm>
        </p:spPr>
        <p:txBody>
          <a:bodyPr>
            <a:normAutofit/>
          </a:bodyPr>
          <a:lstStyle/>
          <a:p>
            <a:r>
              <a:rPr lang="en-IN" sz="3200" b="1" dirty="0"/>
              <a:t>MRS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Emotion-to-Attributes 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B8078-05EE-329B-DCA2-25D5EB6CA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8207" y="2076161"/>
            <a:ext cx="9236630" cy="420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0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4034-00DA-35C0-23AE-3DC51A1B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9757181" cy="3332832"/>
          </a:xfrm>
        </p:spPr>
        <p:txBody>
          <a:bodyPr>
            <a:normAutofit lnSpcReduction="10000"/>
          </a:bodyPr>
          <a:lstStyle/>
          <a:p>
            <a:r>
              <a:rPr lang="en-US" sz="4000" b="1" dirty="0"/>
              <a:t>MCS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Data Source: GTZAN dataset (10 genres, 1000 audio files)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Feature Extraction: MFCC, Spectral Centroid, Zero Crossing Rate, Chroma, Mel Spectrogram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Model: Support Vector Machine (SVM)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Training: 80-20 train-test split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Evaluation: Accuracy, Classification Report, Confusion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311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699F-F805-36A6-4E2E-A2D651976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1364658"/>
          </a:xfrm>
        </p:spPr>
        <p:txBody>
          <a:bodyPr/>
          <a:lstStyle/>
          <a:p>
            <a:pPr algn="ctr"/>
            <a:r>
              <a:rPr lang="en-US" sz="4400" dirty="0"/>
              <a:t>SYSTEM REQUIREMENTS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A032D1-BCE8-7FA9-DAF3-B6C5C3D8E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3"/>
            <a:ext cx="9741139" cy="3927637"/>
          </a:xfrm>
        </p:spPr>
        <p:txBody>
          <a:bodyPr>
            <a:normAutofit fontScale="850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Hardware Requirements: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Minimum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Intel Core i3, 4GB RAM, 10GB free storage, internet connection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Recommended: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Intel Core i5/i7 or AMD Ryzen 5/7, 8GB RAM, SSD with 20GB free space.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 Requirements: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Windows 10/11, macOS, Linux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Language: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VS Code, PyCharm,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Jupyter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Notebook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Libraries: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pandas,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matplotlib,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youtube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-dl, Flask/Django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YouTube Data API v3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603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3812A-33F2-6077-7B01-339C8EEC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dirty="0"/>
              <a:t>Results and Analysis</a:t>
            </a:r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3A1112-216F-8161-F70E-AAB7D6A7F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64" y="2017467"/>
            <a:ext cx="9477051" cy="39020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0383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8D1040C6-5EF7-0EBC-4404-24DE7A2B3C9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8" y="1556238"/>
            <a:ext cx="9665714" cy="3911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6F70B-5978-D949-8776-A01CF5C4E6A7}"/>
              </a:ext>
            </a:extLst>
          </p:cNvPr>
          <p:cNvSpPr txBox="1"/>
          <p:nvPr/>
        </p:nvSpPr>
        <p:spPr>
          <a:xfrm>
            <a:off x="972979" y="777848"/>
            <a:ext cx="5699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MRS</a:t>
            </a:r>
            <a:r>
              <a:rPr lang="en-IN" dirty="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AC976B1-B601-7E79-0023-7AC10192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58864" y="0"/>
            <a:ext cx="9779183" cy="10202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039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D048A-F98B-E64C-E68A-3BBE4892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972" y="1576944"/>
            <a:ext cx="9601199" cy="3332832"/>
          </a:xfrm>
        </p:spPr>
        <p:txBody>
          <a:bodyPr>
            <a:normAutofit fontScale="77500" lnSpcReduction="20000"/>
          </a:bodyPr>
          <a:lstStyle/>
          <a:p>
            <a:r>
              <a:rPr lang="en-IN" sz="3600" b="1" dirty="0"/>
              <a:t>MCS</a:t>
            </a:r>
          </a:p>
          <a:p>
            <a:endParaRPr lang="en-IN" sz="3600" b="1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Model accuracy: For </a:t>
            </a:r>
            <a:r>
              <a:rPr lang="en-IN" sz="2800" dirty="0" err="1"/>
              <a:t>file_based</a:t>
            </a:r>
            <a:r>
              <a:rPr lang="en-IN" sz="2800" dirty="0"/>
              <a:t> -70% (SVM with optimized hyperparameters) and audio_based-10% (SVM with optimized hyperparameters)</a:t>
            </a:r>
          </a:p>
          <a:p>
            <a:pPr>
              <a:lnSpc>
                <a:spcPct val="110000"/>
              </a:lnSpc>
            </a:pPr>
            <a:endParaRPr lang="en-IN" sz="28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Confusion matrix showing correct and incorrect classifications</a:t>
            </a:r>
          </a:p>
          <a:p>
            <a:pPr>
              <a:lnSpc>
                <a:spcPct val="110000"/>
              </a:lnSpc>
            </a:pPr>
            <a:endParaRPr lang="en-IN" sz="28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Visualization: Genre-wise classification accuracy, performance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01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D698E5-192E-2227-ABDF-CC2F4773E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169" r="9126" b="3"/>
          <a:stretch/>
        </p:blipFill>
        <p:spPr>
          <a:xfrm>
            <a:off x="599440" y="1501187"/>
            <a:ext cx="5394960" cy="3855629"/>
          </a:xfrm>
          <a:noFill/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7849F5-6878-0019-1FBE-70E9C057C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01187"/>
            <a:ext cx="5496560" cy="36709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6B65A7-9DAA-D7D0-BD67-C059A15EA25C}"/>
              </a:ext>
            </a:extLst>
          </p:cNvPr>
          <p:cNvSpPr txBox="1"/>
          <p:nvPr/>
        </p:nvSpPr>
        <p:spPr>
          <a:xfrm>
            <a:off x="985520" y="5381526"/>
            <a:ext cx="5008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Fig., Accuracy chart for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file_based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classification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AD6B9-3E9D-5E29-0597-980C370419A7}"/>
              </a:ext>
            </a:extLst>
          </p:cNvPr>
          <p:cNvSpPr txBox="1"/>
          <p:nvPr/>
        </p:nvSpPr>
        <p:spPr>
          <a:xfrm>
            <a:off x="7203440" y="5172147"/>
            <a:ext cx="345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Fig., MCS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Wepage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-Home</a:t>
            </a:r>
          </a:p>
        </p:txBody>
      </p:sp>
    </p:spTree>
    <p:extLst>
      <p:ext uri="{BB962C8B-B14F-4D97-AF65-F5344CB8AC3E}">
        <p14:creationId xmlns:p14="http://schemas.microsoft.com/office/powerpoint/2010/main" val="3470124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2BDF6A-C3CF-E5FA-9D38-A7FDADAD5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493" y="2378808"/>
            <a:ext cx="4663440" cy="2377048"/>
          </a:xfrm>
          <a:noFill/>
        </p:spPr>
      </p:pic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CD85B914-4A2E-CA51-8475-4C2B63409AB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3325" y="2501620"/>
            <a:ext cx="4664075" cy="237704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B5965F-D111-30A7-6CBF-0635652833C7}"/>
              </a:ext>
            </a:extLst>
          </p:cNvPr>
          <p:cNvSpPr txBox="1"/>
          <p:nvPr/>
        </p:nvSpPr>
        <p:spPr>
          <a:xfrm>
            <a:off x="2054089" y="4878668"/>
            <a:ext cx="400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File_upload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859F9-1231-AFC1-DA25-82A968306008}"/>
              </a:ext>
            </a:extLst>
          </p:cNvPr>
          <p:cNvSpPr txBox="1"/>
          <p:nvPr/>
        </p:nvSpPr>
        <p:spPr>
          <a:xfrm>
            <a:off x="7410384" y="4878668"/>
            <a:ext cx="309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audio_based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289</TotalTime>
  <Words>456</Words>
  <Application>Microsoft Office PowerPoint</Application>
  <PresentationFormat>Widescreen</PresentationFormat>
  <Paragraphs>91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Tenorite</vt:lpstr>
      <vt:lpstr>Times New Roman</vt:lpstr>
      <vt:lpstr>Custom</vt:lpstr>
      <vt:lpstr>MUSIC CLASSIFICATION  AND  RECOMMENDATION SYSTEM USING  MACHINE LEARNING</vt:lpstr>
      <vt:lpstr>CONTENTS</vt:lpstr>
      <vt:lpstr>INTRODUCTION</vt:lpstr>
      <vt:lpstr>MCS </vt:lpstr>
      <vt:lpstr> </vt:lpstr>
      <vt:lpstr>MCS Challenges  1)  Variability in music styles and composition 2)   Background noise and distributions 3)   Inbalanced datasets (biased classification)  </vt:lpstr>
      <vt:lpstr>OBJECTIVES</vt:lpstr>
      <vt:lpstr>PowerPoint Presentation</vt:lpstr>
      <vt:lpstr>METHODOLOGY</vt:lpstr>
      <vt:lpstr>PowerPoint Presentation</vt:lpstr>
      <vt:lpstr>SYSTEM REQUIREMENTS</vt:lpstr>
      <vt:lpstr>Results and Analysis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VISHWANATH PATIL</dc:creator>
  <cp:lastModifiedBy>Shammith R</cp:lastModifiedBy>
  <cp:revision>4</cp:revision>
  <dcterms:created xsi:type="dcterms:W3CDTF">2025-02-10T17:50:35Z</dcterms:created>
  <dcterms:modified xsi:type="dcterms:W3CDTF">2025-10-09T14:40:51Z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